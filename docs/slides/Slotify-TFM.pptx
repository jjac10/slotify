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Hola, soy Jose Joaquín Alarcón. Os presento Slotify, mi TFM: una plataforma de reservas para negocios locales, estilo Booksy. Lo más importante: no es un prototipo — está desplegada y funcionando en producción, en slotify.jjalarcon.es, y la he construido con metodología TDD asistida por IA. En los próximos minutos os enseño el problema, la solución, una demo en vivo, la arquitectura y la metodología.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¿Cómo reservan hoy la mayoría de negocios locales? Por teléfono y WhatsApp. Eso genera cuatro problemas claros: llamadas que no cogen y pierden cliente; dobles reservas al apuntar en papel; ausencias por falta de recordatorios; y cero datos para tomar decisiones. Slotify ataca exactamente estos cuatro puntos.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Slotify es una web con dos caras. Para el cliente: descubre el negocio, y reserva en segundos eligiendo servicio, profesional, día y hueco libre — con cuenta o como invitado, sin fricción. Para el dueño: un panel donde gestiona agenda, equipo, horarios, precios y avisos. La idea fuerza: reservas 24/7 sin llamadas, el negocio nunca pierde una cita.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está vivo, no es un mockup. La URL es slotify.jjalarcon.es. He dejado dos usuarios de prueba: owner@demo.slotify para el rol de dueño y cliente@demo.slotify para el cliente, ambos con la contraseña Demo1234!. AQUÍ HAGO LA DEMO REAL: exploro la Barbería Demo, reservo una cita, entro como dueño y enseño el panel y la agenda, y cancelo/reprogramo una reserva. También se puede reservar como invitado sin registrarse.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cliente: explorar con filtros y cercanía; una reserva guiada que solo ofrece huecos reales; reservar incluso como invitado con sus datos cifrados; gestionar sus reservas; dejar reseñas; y recibir avisos. Todo pensado para reservar en menos de un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dueño: un panel con métricas de reservas, ingresos y valoración; una agenda en vista lista y vista calendario; reserva manual para recepción; gestión de servicios y equipo con precios y duración; reglas configurables como confirmación automática o manual y ventana de cancelación; y un modelo Freemium. Toda la operativa en un solo sitio.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stack: backend en ASP.NET Core 10 con Entity Framework y PostgreSQL, sobre un Repository Pattern que hace la base de datos intercambiable. Frontend en React 19 con TypeScript, Vite y Tailwind. Testing serio: xUnit, Moq, Testcontainers y Playwright, más de 300 pruebas. Y DevOps completo: Docker, GitHub Actions, imágenes en GHCR y despliegue en un VPS con HTTPS vía Traefik.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sigue capas limpias: el navegador con la SPA de React llama a la API REST de ASP.NET, que pasa por la capa de dominio y repositorios, y de ahí a PostgreSQL con EF Core. La clave del Repository Pattern es que la base de datos es intercambiable sin tocar la lógica. Y de forma transversal: cifrado del contacto del invitado, un mecanismo robusto anti-doble-booking, y todo dockerizado con CI/CD y HTTPS.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parte diferencial del proyecto: TDD estricto asistido por IA. El ciclo es rojo-verde-refactor: primero escribo un test que falla y define qué debe pasar; luego implemento lo mínimo para que pase; y por último refactorizo con la red de tests cubriéndome. La IA me acelera escribiendo, pero el ciclo garantiza calidad. Resultado: más de 300 pruebas, unos 30 Pull Requests atómicos, y CI ejecutándose en cada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calidad no termina en los tests: tengo un pipeline de CI/CD completo. Cuando fusiono a main, GitHub Actions reconstruye, ejecuta todos los tests y los e2e, construye las imágenes Docker y las sube a GHCR, se conecta por SSH al VPS y redespliega — y Traefik sirve el HTTPS. Lo importante: si los tests no están en verde, no hay despliegue. El pipeline protege producción en cada cambio.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quería un proyecto de juguete, sino un producto real. Por eso: los datos de contacto del invitado van cifrados con AES-256, con blind index para poder buscar sin descifrar. El anti-doble-booking es a nivel de base de datos, no solo en código. El Repository Pattern hace la BD intercambiable. Las fechas se guardan en UTC. La autenticación usa JWT con refresh. Y el modelo Freemium está diseñado para crecer sin refactor.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¿Qué he conseguido? Más de 300 pruebas automáticas. El proyecto está al 100% en producción con HTTPS. Permite reservas 24/7 sin llamadas. Tiene dos roles más el flujo de invitado. Y, sobre todo, las funcionalidades están completas de punta a punta: explorar, reservar, gestionar, reseñar y avisar — todo probado y desplegado. Es un producto entregado, no una maqueta.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cerrar: este proyecto demuestra que se puede combinar IA y TDD para ganar velocidad sin renunciar a la calidad; que tiene una arquitectura limpia y está desplegado de verdad; y tiene recorrido — los próximos pasos serían verificación por OTP, pagos y una app móvil. Muchas gracias. El código está en github.com/jjac10/slotify y la app en vivo en slotify.jjalarcon.es. Quedo a vuestra disposición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669280" cy="5669280"/>
          </a:xfrm>
          <a:prstGeom prst="ellipse">
            <a:avLst/>
          </a:prstGeom>
          <a:solidFill>
            <a:srgbClr val="4C1D9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2377440"/>
            <a:ext cx="4572000" cy="45720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777240"/>
            <a:ext cx="1051560" cy="10515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B14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033272"/>
            <a:ext cx="539496" cy="539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93268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SLOTIFY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para negocios locales,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segundos.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reservas estilo Booksy — construida con metodología TDD asistida por IA.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5029200"/>
            <a:ext cx="10881360" cy="0"/>
          </a:xfrm>
          <a:prstGeom prst="line">
            <a:avLst/>
          </a:prstGeom>
          <a:noFill/>
          <a:ln w="12700">
            <a:solidFill>
              <a:srgbClr val="3A2D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212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Joaquín Alarcón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Máster · Desarrollo de Apps con IA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89720" y="523036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869680" y="5559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slotify.jjalarcon.es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negocios locales aún reservan a mano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Barberías, peluquerías, fisios o estética gestionan sus citas por teléfono y WhatsApp. Eso cuesta tiempo y dinero.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384298" cy="3108960"/>
          </a:xfrm>
          <a:prstGeom prst="roundRect">
            <a:avLst>
              <a:gd name="adj" fmla="val 4602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34640"/>
            <a:ext cx="868680" cy="8686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305181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886200"/>
            <a:ext cx="183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perdidas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14400" y="4389120"/>
            <a:ext cx="183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cogen el teléfono, el cliente se va a la competencia.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81578" y="2468880"/>
            <a:ext cx="2384298" cy="3108960"/>
          </a:xfrm>
          <a:prstGeom prst="roundRect">
            <a:avLst>
              <a:gd name="adj" fmla="val 4602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01618" y="2834640"/>
            <a:ext cx="868680" cy="86868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788" y="305181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55898" y="3886200"/>
            <a:ext cx="183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Dobles reservas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3755898" y="4389120"/>
            <a:ext cx="183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Apuntar en papel o agenda provoca solapes y malas experiencias.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23076" y="2468880"/>
            <a:ext cx="2384298" cy="3108960"/>
          </a:xfrm>
          <a:prstGeom prst="roundRect">
            <a:avLst>
              <a:gd name="adj" fmla="val 4602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43116" y="2834640"/>
            <a:ext cx="868680" cy="8686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286" y="305181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97396" y="3886200"/>
            <a:ext cx="183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Ausencias (no-shows)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6597396" y="4389120"/>
            <a:ext cx="183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recordatorios automáticos, los huecos se quedan vacíos.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164574" y="2468880"/>
            <a:ext cx="2384298" cy="3108960"/>
          </a:xfrm>
          <a:prstGeom prst="roundRect">
            <a:avLst>
              <a:gd name="adj" fmla="val 4602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484614" y="2834640"/>
            <a:ext cx="868680" cy="86868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51810"/>
            <a:ext cx="434340" cy="4343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38894" y="3886200"/>
            <a:ext cx="183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datos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9438894" y="4389120"/>
            <a:ext cx="18356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saben qué servicio rinde más ni cuánto facturan al mes.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Slotify?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web donde el cliente descubre el negocio y reserva en segundos —con cuenta o como invitado— y el dueño gestiona toda su operativa desde un panel.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670" y="18402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6948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269480" y="20299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negocios por nombre, categoría y cercanía.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2724912"/>
            <a:ext cx="777240" cy="7772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670" y="2919222"/>
            <a:ext cx="388620" cy="3886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270662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 en segundos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7269480" y="3108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→ profesional → día → hueco libre.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309360" y="3803904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670" y="3998214"/>
            <a:ext cx="388620" cy="3886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69480" y="37856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fricción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7269480" y="41879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cuenta o como invitado (teléfono o email).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309360" y="4882896"/>
            <a:ext cx="777240" cy="7772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670" y="5077206"/>
            <a:ext cx="388620" cy="3886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69480" y="48646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para el dueño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7269480" y="52669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equipo, horarios, precios y avisos.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40080" y="507492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14300" dist="38100" dir="5400000">
              <a:srgbClr val="1B1430">
                <a:alpha val="16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413248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45920" y="5212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24/7, sin llamadas.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nunca pierde una cita.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120640" cy="512064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Pruébalo ahora mismo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241A40"/>
          </a:solidFill>
          <a:ln w="12700">
            <a:solidFill>
              <a:srgbClr val="3A2D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slotify.jjalarcon.es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de prueba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241A40"/>
          </a:solidFill>
          <a:ln w="12700">
            <a:solidFill>
              <a:srgbClr val="3A2D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40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240280" y="3840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owner@demo.slotify
</a:t>
            </a:r>
            <a:pPr indent="0" marL="0">
              <a:buNone/>
            </a:pPr>
            <a:r>
              <a:rPr lang="en-US" sz="120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Demo1234!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4800600"/>
            <a:ext cx="5486400" cy="822960"/>
          </a:xfrm>
          <a:prstGeom prst="roundRect">
            <a:avLst>
              <a:gd name="adj" fmla="val 8889"/>
            </a:avLst>
          </a:prstGeom>
          <a:solidFill>
            <a:srgbClr val="241A40"/>
          </a:solidFill>
          <a:ln w="12700">
            <a:solidFill>
              <a:srgbClr val="3A2D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4800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240280" y="4800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cliente@demo.slotify
</a:t>
            </a:r>
            <a:pPr indent="0" marL="0">
              <a:buNone/>
            </a:pPr>
            <a:r>
              <a:rPr lang="en-US" sz="120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Demo1234!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7665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probar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59736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24231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«Barbería Demo» y mira sus servicios y reseñas</a:t>
            </a:r>
            <a:endParaRPr lang="en-US" sz="14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30098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0" y="32644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una cita en segundos (o como invitado)</a:t>
            </a:r>
            <a:endParaRPr lang="en-US" sz="14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142232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410565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como dueño y revisa panel y agenda</a:t>
            </a:r>
            <a:endParaRPr lang="en-US" sz="14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98348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0" y="494690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o reprograma desde «Mis reservas»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· CLIENTE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 nunca fue tan fácil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31464" cy="1481328"/>
          </a:xfrm>
          <a:prstGeom prst="roundRect">
            <a:avLst>
              <a:gd name="adj" fmla="val 617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30552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324862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84832"/>
            <a:ext cx="191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542032"/>
            <a:ext cx="1959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Búsqueda, categorías, «cerca de mí» y valoración.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28744" y="1828800"/>
            <a:ext cx="3331464" cy="1481328"/>
          </a:xfrm>
          <a:prstGeom prst="roundRect">
            <a:avLst>
              <a:gd name="adj" fmla="val 617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3064" y="2130552"/>
            <a:ext cx="777240" cy="7772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374" y="2324862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17464" y="2084832"/>
            <a:ext cx="191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guiada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17464" y="2542032"/>
            <a:ext cx="1959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→ profesional → día → hueco real.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17408" y="1828800"/>
            <a:ext cx="3331464" cy="1481328"/>
          </a:xfrm>
          <a:prstGeom prst="roundRect">
            <a:avLst>
              <a:gd name="adj" fmla="val 617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91728" y="2130552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038" y="2324862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06128" y="2084832"/>
            <a:ext cx="191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invitado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406128" y="2542032"/>
            <a:ext cx="1959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 +34 o email, cifrados AES-256.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630168"/>
            <a:ext cx="3331464" cy="1481328"/>
          </a:xfrm>
          <a:prstGeom prst="roundRect">
            <a:avLst>
              <a:gd name="adj" fmla="val 617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3931920"/>
            <a:ext cx="777240" cy="7772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412623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3886200"/>
            <a:ext cx="191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reservas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828800" y="4343400"/>
            <a:ext cx="1959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y reprogramar según la antelación.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28744" y="3630168"/>
            <a:ext cx="3331464" cy="1481328"/>
          </a:xfrm>
          <a:prstGeom prst="roundRect">
            <a:avLst>
              <a:gd name="adj" fmla="val 617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3064" y="3931920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374" y="4126230"/>
            <a:ext cx="388620" cy="3886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17464" y="3886200"/>
            <a:ext cx="191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617464" y="4343400"/>
            <a:ext cx="1959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por negocio tras asistir, editable.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17408" y="3630168"/>
            <a:ext cx="3331464" cy="1481328"/>
          </a:xfrm>
          <a:prstGeom prst="roundRect">
            <a:avLst>
              <a:gd name="adj" fmla="val 617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91728" y="3931920"/>
            <a:ext cx="777240" cy="7772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038" y="4126230"/>
            <a:ext cx="388620" cy="3886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406128" y="3886200"/>
            <a:ext cx="191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406128" y="4343400"/>
            <a:ext cx="1959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y recordatorio de la cita.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· DUEÑO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operativa en un panel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31464" cy="1481328"/>
          </a:xfrm>
          <a:prstGeom prst="roundRect">
            <a:avLst>
              <a:gd name="adj" fmla="val 617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30552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324862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84832"/>
            <a:ext cx="191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métricas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542032"/>
            <a:ext cx="1959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del mes, ingresos y valoración.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28744" y="1828800"/>
            <a:ext cx="3331464" cy="1481328"/>
          </a:xfrm>
          <a:prstGeom prst="roundRect">
            <a:avLst>
              <a:gd name="adj" fmla="val 617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3064" y="2130552"/>
            <a:ext cx="777240" cy="7772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374" y="2324862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17464" y="2084832"/>
            <a:ext cx="191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17464" y="2542032"/>
            <a:ext cx="1959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lista y vista día tipo calendario.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17408" y="1828800"/>
            <a:ext cx="3331464" cy="1481328"/>
          </a:xfrm>
          <a:prstGeom prst="roundRect">
            <a:avLst>
              <a:gd name="adj" fmla="val 617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91728" y="2130552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038" y="2324862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06128" y="2084832"/>
            <a:ext cx="191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manual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406128" y="2542032"/>
            <a:ext cx="1959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Apuntar citas de recepción al vuelo.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630168"/>
            <a:ext cx="3331464" cy="1481328"/>
          </a:xfrm>
          <a:prstGeom prst="roundRect">
            <a:avLst>
              <a:gd name="adj" fmla="val 617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3931920"/>
            <a:ext cx="777240" cy="7772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412623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3886200"/>
            <a:ext cx="191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y equipo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828800" y="4343400"/>
            <a:ext cx="1959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Precios, duración y asignación por trabajador.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28744" y="3630168"/>
            <a:ext cx="3331464" cy="1481328"/>
          </a:xfrm>
          <a:prstGeom prst="roundRect">
            <a:avLst>
              <a:gd name="adj" fmla="val 617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3064" y="3931920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374" y="4126230"/>
            <a:ext cx="388620" cy="3886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17464" y="3886200"/>
            <a:ext cx="191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del negocio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617464" y="4343400"/>
            <a:ext cx="1959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auto/manual y ventana de cancelación.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17408" y="3630168"/>
            <a:ext cx="3331464" cy="1481328"/>
          </a:xfrm>
          <a:prstGeom prst="roundRect">
            <a:avLst>
              <a:gd name="adj" fmla="val 617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91728" y="3931920"/>
            <a:ext cx="777240" cy="77724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038" y="4126230"/>
            <a:ext cx="388620" cy="3886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406128" y="3886200"/>
            <a:ext cx="1914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Freemium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406128" y="4343400"/>
            <a:ext cx="1959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con límites + Premium.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modernas, elegidas a conciencia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384298" cy="4297680"/>
          </a:xfrm>
          <a:prstGeom prst="roundRect">
            <a:avLst>
              <a:gd name="adj" fmla="val 4602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5029" y="2194560"/>
            <a:ext cx="914400" cy="9144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629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238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3794760"/>
            <a:ext cx="17442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10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10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+ DI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81578" y="1783080"/>
            <a:ext cx="2384298" cy="4297680"/>
          </a:xfrm>
          <a:prstGeom prst="roundRect">
            <a:avLst>
              <a:gd name="adj" fmla="val 4602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16527" y="2194560"/>
            <a:ext cx="914400" cy="91440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127" y="2423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1578" y="3246120"/>
            <a:ext cx="238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801618" y="3794760"/>
            <a:ext cx="17442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23076" y="1783080"/>
            <a:ext cx="2384298" cy="4297680"/>
          </a:xfrm>
          <a:prstGeom prst="roundRect">
            <a:avLst>
              <a:gd name="adj" fmla="val 4602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58025" y="2194560"/>
            <a:ext cx="914400" cy="9144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25" y="2423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3076" y="3246120"/>
            <a:ext cx="238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643116" y="3794760"/>
            <a:ext cx="17442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+ Moq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(e2e)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pruebas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64574" y="1783080"/>
            <a:ext cx="2384298" cy="4297680"/>
          </a:xfrm>
          <a:prstGeom prst="roundRect">
            <a:avLst>
              <a:gd name="adj" fmla="val 4602"/>
            </a:avLst>
          </a:prstGeom>
          <a:solidFill>
            <a:srgbClr val="FFFF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99523" y="2194560"/>
            <a:ext cx="914400" cy="91440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8123" y="24231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64574" y="3246120"/>
            <a:ext cx="238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/ DevOps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9484614" y="3794760"/>
            <a:ext cx="17442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(CI/CD)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+ Traefik</a:t>
            </a:r>
            <a:endParaRPr lang="en-US" sz="125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Ionos + HTTPS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limpias, base de datos intercambiable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68880"/>
            <a:ext cx="822960" cy="8229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6746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9456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 (nginx)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090672" y="2194560"/>
            <a:ext cx="344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453384" y="21945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81984" y="246888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724" y="26746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0664" y="219456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· JWT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903976" y="2194560"/>
            <a:ext cx="344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6266688" y="21945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5288" y="246888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028" y="26746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63968" y="219456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+ Repos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+ DI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717280" y="2194560"/>
            <a:ext cx="344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9079992" y="219456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08592" y="2468880"/>
            <a:ext cx="822960" cy="8229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4332" y="26746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177272" y="219456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· migraciones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40080" y="4297680"/>
            <a:ext cx="3331464" cy="1371600"/>
          </a:xfrm>
          <a:prstGeom prst="roundRect">
            <a:avLst>
              <a:gd name="adj" fmla="val 6667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14300" dist="38100" dir="5400000">
              <a:srgbClr val="1B1430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14400" y="4681728"/>
            <a:ext cx="640080" cy="64008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484174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91640" y="4297680"/>
            <a:ext cx="2097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AES-256-GCM + blind index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428744" y="4297680"/>
            <a:ext cx="3331464" cy="1371600"/>
          </a:xfrm>
          <a:prstGeom prst="roundRect">
            <a:avLst>
              <a:gd name="adj" fmla="val 6667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14300" dist="38100" dir="5400000">
              <a:srgbClr val="1B1430">
                <a:alpha val="16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703064" y="4681728"/>
            <a:ext cx="640080" cy="64008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3084" y="4841748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80304" y="4297680"/>
            <a:ext cx="2097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Anti-doble-booking (constraint + lock)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8217408" y="4297680"/>
            <a:ext cx="3331464" cy="1371600"/>
          </a:xfrm>
          <a:prstGeom prst="roundRect">
            <a:avLst>
              <a:gd name="adj" fmla="val 6667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14300" dist="38100" dir="5400000">
              <a:srgbClr val="1B1430">
                <a:alpha val="16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491728" y="4681728"/>
            <a:ext cx="640080" cy="64008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1748" y="4841748"/>
            <a:ext cx="320040" cy="32004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268968" y="4297680"/>
            <a:ext cx="2097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CI/CD + Traefik HTTPS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00400"/>
            <a:ext cx="4937760" cy="4937760"/>
          </a:xfrm>
          <a:prstGeom prst="ellipse">
            <a:avLst/>
          </a:prstGeom>
          <a:solidFill>
            <a:srgbClr val="4C1D95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estricto, asistido por IA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primero, el código después. La IA acelera; el rojo→verde garantiza que nada se rompe.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20848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IA:  </a:t>
            </a:r>
            <a:pPr indent="0" marL="0">
              <a:buNone/>
            </a:pPr>
            <a:r>
              <a:rPr lang="en-US" sz="125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Stitch (diseño de UI)  ·  Claude (desarrollo + TDD)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270504" cy="2286000"/>
          </a:xfrm>
          <a:prstGeom prst="roundRect">
            <a:avLst>
              <a:gd name="adj" fmla="val 4800"/>
            </a:avLst>
          </a:prstGeom>
          <a:solidFill>
            <a:srgbClr val="241A40"/>
          </a:solidFill>
          <a:ln w="12700">
            <a:solidFill>
              <a:srgbClr val="3A2D5E"/>
            </a:solidFill>
            <a:prstDash val="solid"/>
          </a:ln>
          <a:effectLst>
            <a:outerShdw sx="100000" sy="100000" kx="0" ky="0" algn="bl" rotWithShape="0" blurRad="114300" dist="38100" dir="5400000">
              <a:srgbClr val="1B14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834640"/>
            <a:ext cx="822960" cy="822960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3035808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2880360"/>
            <a:ext cx="1898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60120" y="3794760"/>
            <a:ext cx="2630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Escribo un test que falla y define el comportamiento esperado.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864864" y="2514600"/>
            <a:ext cx="640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4459224" y="2514600"/>
            <a:ext cx="3270504" cy="2286000"/>
          </a:xfrm>
          <a:prstGeom prst="roundRect">
            <a:avLst>
              <a:gd name="adj" fmla="val 4800"/>
            </a:avLst>
          </a:prstGeom>
          <a:solidFill>
            <a:srgbClr val="241A40"/>
          </a:solidFill>
          <a:ln w="12700">
            <a:solidFill>
              <a:srgbClr val="3A2D5E"/>
            </a:solidFill>
            <a:prstDash val="solid"/>
          </a:ln>
          <a:effectLst>
            <a:outerShdw sx="100000" sy="100000" kx="0" ky="0" algn="bl" rotWithShape="0" blurRad="114300" dist="38100" dir="5400000">
              <a:srgbClr val="1B143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33544" y="2834640"/>
            <a:ext cx="822960" cy="82296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712" y="3035808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93664" y="2880360"/>
            <a:ext cx="1898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4779264" y="3794760"/>
            <a:ext cx="2630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Implemento lo mínimo para que el test pase.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684008" y="2514600"/>
            <a:ext cx="640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8278368" y="2514600"/>
            <a:ext cx="3270504" cy="2286000"/>
          </a:xfrm>
          <a:prstGeom prst="roundRect">
            <a:avLst>
              <a:gd name="adj" fmla="val 4800"/>
            </a:avLst>
          </a:prstGeom>
          <a:solidFill>
            <a:srgbClr val="241A40"/>
          </a:solidFill>
          <a:ln w="12700">
            <a:solidFill>
              <a:srgbClr val="3A2D5E"/>
            </a:solidFill>
            <a:prstDash val="solid"/>
          </a:ln>
          <a:effectLst>
            <a:outerShdw sx="100000" sy="100000" kx="0" ky="0" algn="bl" rotWithShape="0" blurRad="114300" dist="38100" dir="5400000">
              <a:srgbClr val="1B143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552688" y="2834640"/>
            <a:ext cx="822960" cy="822960"/>
          </a:xfrm>
          <a:prstGeom prst="ellipse">
            <a:avLst/>
          </a:prstGeom>
          <a:solidFill>
            <a:srgbClr val="06B6D4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856" y="3035808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512808" y="2880360"/>
            <a:ext cx="1898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8598408" y="3794760"/>
            <a:ext cx="2630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Limpio el diseño con la red de tests cubriéndome.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0080" y="512064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640080" y="5687568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automáticas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458718" y="512064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</a:t>
            </a:r>
            <a:endParaRPr lang="en-US" sz="3000" dirty="0"/>
          </a:p>
        </p:txBody>
      </p:sp>
      <p:sp>
        <p:nvSpPr>
          <p:cNvPr id="27" name="Text 22"/>
          <p:cNvSpPr/>
          <p:nvPr/>
        </p:nvSpPr>
        <p:spPr>
          <a:xfrm>
            <a:off x="3458718" y="5687568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atómicos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77356" y="512064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9" name="Text 24"/>
          <p:cNvSpPr/>
          <p:nvPr/>
        </p:nvSpPr>
        <p:spPr>
          <a:xfrm>
            <a:off x="6277356" y="5687568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con tests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9095994" y="512064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3000" dirty="0"/>
          </a:p>
        </p:txBody>
      </p:sp>
      <p:sp>
        <p:nvSpPr>
          <p:cNvPr id="31" name="Text 26"/>
          <p:cNvSpPr/>
          <p:nvPr/>
        </p:nvSpPr>
        <p:spPr>
          <a:xfrm>
            <a:off x="9095994" y="5687568"/>
            <a:ext cx="2452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push/PR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· CI/CD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«git push» a producción, solo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fusión a main reconstruye, prueba y redespliega sin intervención manual.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5860" y="288036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0861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749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Merge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069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rama main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14600" y="260604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98648" y="260604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4428" y="2880360"/>
            <a:ext cx="822960" cy="8229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30861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98648" y="3749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898648" y="4069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test + e2e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773168" y="260604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157216" y="260604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682996" y="288036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30861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57216" y="3749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157216" y="4069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GHCR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7031736" y="260604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7415784" y="260604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941564" y="2880360"/>
            <a:ext cx="822960" cy="8229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308610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15784" y="3749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SSH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415784" y="4069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VPS Ionos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290304" y="260604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9674352" y="260604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1B1430"/>
          </a:solidFill>
          <a:ln w="12700">
            <a:solidFill>
              <a:srgbClr val="1B1430"/>
            </a:solidFill>
            <a:prstDash val="solid"/>
          </a:ln>
          <a:effectLst>
            <a:outerShdw sx="100000" sy="100000" kx="0" ky="0" algn="bl" rotWithShape="0" blurRad="114300" dist="38100" dir="5400000">
              <a:srgbClr val="1B1430">
                <a:alpha val="1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200132" y="288036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72" y="308610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74352" y="37490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674352" y="4069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+ HTTPS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tests verdes no hay despliegue.  </a:t>
            </a:r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protege producción en cada cambio.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como producto real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80076" cy="1280160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585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65960"/>
            <a:ext cx="3854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cifrados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331720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del invitado con AES-256-GCM; blind index HMAC para buscar sin descifrar.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68796" y="1783080"/>
            <a:ext cx="5180076" cy="1280160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43116" y="2075688"/>
            <a:ext cx="731520" cy="73152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996" y="225856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11796" y="1965960"/>
            <a:ext cx="3854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Anti-doble-booking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511796" y="2331720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de exclusión en BD + optimistic locking: imposible solapar citas.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291840"/>
            <a:ext cx="5180076" cy="1280160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584448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76732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474720"/>
            <a:ext cx="3854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intercambiable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83080" y="3840480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Pattern: cambiar el motor de datos sin tocar la lógica de dominio.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68796" y="3291840"/>
            <a:ext cx="5180076" cy="1280160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43116" y="3584448"/>
            <a:ext cx="731520" cy="73152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996" y="376732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11796" y="3474720"/>
            <a:ext cx="3854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horarias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511796" y="3840480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en base de datos, hora local en la interfaz. Sin sorpresas.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4800600"/>
            <a:ext cx="5180076" cy="1280160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5093208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27608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83080" y="4983480"/>
            <a:ext cx="3854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con JWT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783080" y="5349240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+ refresh tokens; reservas de invitado verificadas por contacto.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68796" y="4800600"/>
            <a:ext cx="5180076" cy="1280160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643116" y="5093208"/>
            <a:ext cx="731520" cy="73152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996" y="5276088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11796" y="4983480"/>
            <a:ext cx="3854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extensible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511796" y="5349240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y límites diseñados para evolucionar sin refactor mayor.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entregado, no una maqueta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384298" cy="2651760"/>
          </a:xfrm>
          <a:prstGeom prst="roundRect">
            <a:avLst>
              <a:gd name="adj" fmla="val 4602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20749" y="228600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6489" y="24917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238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automáticas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81578" y="1920240"/>
            <a:ext cx="2384298" cy="2651760"/>
          </a:xfrm>
          <a:prstGeom prst="roundRect">
            <a:avLst>
              <a:gd name="adj" fmla="val 4602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62247" y="2286000"/>
            <a:ext cx="822960" cy="8229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987" y="24917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1578" y="3246120"/>
            <a:ext cx="238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3664458" y="388620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 y con HTTPS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23076" y="1920240"/>
            <a:ext cx="2384298" cy="2651760"/>
          </a:xfrm>
          <a:prstGeom prst="roundRect">
            <a:avLst>
              <a:gd name="adj" fmla="val 4602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03745" y="2286000"/>
            <a:ext cx="822960" cy="8229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485" y="24917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3076" y="3246120"/>
            <a:ext cx="238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800" dirty="0"/>
          </a:p>
        </p:txBody>
      </p:sp>
      <p:sp>
        <p:nvSpPr>
          <p:cNvPr id="18" name="Text 13"/>
          <p:cNvSpPr/>
          <p:nvPr/>
        </p:nvSpPr>
        <p:spPr>
          <a:xfrm>
            <a:off x="6505956" y="388620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sin llamadas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64574" y="1920240"/>
            <a:ext cx="2384298" cy="2651760"/>
          </a:xfrm>
          <a:prstGeom prst="roundRect">
            <a:avLst>
              <a:gd name="adj" fmla="val 4602"/>
            </a:avLst>
          </a:prstGeom>
          <a:solidFill>
            <a:srgbClr val="F5F3FF"/>
          </a:solidFill>
          <a:ln w="12700">
            <a:solidFill>
              <a:srgbClr val="E5E1F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45243" y="2286000"/>
            <a:ext cx="822960" cy="82296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0983" y="24917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64574" y="3246120"/>
            <a:ext cx="238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3" name="Text 17"/>
          <p:cNvSpPr/>
          <p:nvPr/>
        </p:nvSpPr>
        <p:spPr>
          <a:xfrm>
            <a:off x="9347454" y="388620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+ flujo invitado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4983480"/>
            <a:ext cx="10908792" cy="1097280"/>
          </a:xfrm>
          <a:prstGeom prst="roundRect">
            <a:avLst>
              <a:gd name="adj" fmla="val 8333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14300" dist="38100" dir="5400000">
              <a:srgbClr val="1B1430">
                <a:alpha val="16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285232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49834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completas de punta a punta: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· reservar · gestionar · reseñar · avisar — todo probado y desplegado.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219456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737360"/>
            <a:ext cx="4572000" cy="4572000"/>
          </a:xfrm>
          <a:prstGeom prst="ellipse">
            <a:avLst/>
          </a:prstGeom>
          <a:solidFill>
            <a:srgbClr val="4C1D95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profesional,
</a:t>
            </a:r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demostrado con datos.</a:t>
            </a:r>
            <a:endParaRPr lang="en-US" sz="4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529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834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+ IA: velocidad sin renunciar a la calidad.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19856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340156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limpia y desplegada de verdad.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86784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39684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pasos: OTP por SMS, pagos y app móvil.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640080" y="4937760"/>
            <a:ext cx="10881360" cy="0"/>
          </a:xfrm>
          <a:prstGeom prst="line">
            <a:avLst/>
          </a:prstGeom>
          <a:noFill/>
          <a:ln w="12700">
            <a:solidFill>
              <a:srgbClr val="3A2D5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4008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6400800" y="5074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B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Joaquín Alarcón
</a:t>
            </a:r>
            <a:pPr algn="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github.com/jjac10/slotify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0080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slotify.jjalarcon.es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Slotify — TFM</dc:title>
  <dc:subject>PptxGenJS Presentation</dc:subject>
  <dc:creator>Jose Joaquín Alarcón</dc:creator>
  <cp:lastModifiedBy>Jose Joaquín Alarcón</cp:lastModifiedBy>
  <cp:revision>1</cp:revision>
  <dcterms:created xsi:type="dcterms:W3CDTF">2026-07-01T07:30:28Z</dcterms:created>
  <dcterms:modified xsi:type="dcterms:W3CDTF">2026-07-01T07:30:28Z</dcterms:modified>
</cp:coreProperties>
</file>